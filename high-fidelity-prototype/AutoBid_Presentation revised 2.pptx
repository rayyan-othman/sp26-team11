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14"/>
  </p:notesMasterIdLst>
  <p:sldIdLst>
    <p:sldId id="256" r:id="rId5"/>
    <p:sldId id="257" r:id="rId6"/>
    <p:sldId id="258" r:id="rId7"/>
    <p:sldId id="259" r:id="rId8"/>
    <p:sldId id="262" r:id="rId9"/>
    <p:sldId id="263" r:id="rId10"/>
    <p:sldId id="266" r:id="rId11"/>
    <p:sldId id="267" r:id="rId12"/>
    <p:sldId id="26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722399-4313-4F30-8FED-8C7A826D9D09}" v="4" dt="2026-02-19T15:01:25.274"/>
    <p1510:client id="{4475A3B3-0D01-49A0-A4FD-C7B0FD4CA0A9}" v="4" dt="2026-02-19T15:10:47.060"/>
    <p1510:client id="{E9CBEF85-F5FC-FC1B-9B6C-EB9D4D7E3047}" v="96" dt="2026-02-19T07:21:18.150"/>
    <p1510:client id="{EA1DA720-72D5-8CC7-80DD-1D9D18F7A815}" v="14" dt="2026-02-19T06:57:38.6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9T07:15:05.096"/>
    </inkml:context>
    <inkml:brush xml:id="br0">
      <inkml:brushProperty name="width" value="0.1" units="cm"/>
      <inkml:brushProperty name="height" value="0.1" units="cm"/>
    </inkml:brush>
  </inkml:definitions>
  <inkml:trace contextRef="#ctx0" brushRef="#br0">9139 4865 16383 0 0,'5'5'0'0'0,"1"1"0"0"0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565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AutoBid, team, and purpose of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what AutoBid is, why it was created, and the problem it solves.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how the system works overall and how users interact with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main features before live demo.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slide to show future vision if time allows.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925458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072209" y="1013985"/>
            <a:ext cx="5785791" cy="3260635"/>
          </a:xfrm>
        </p:spPr>
        <p:txBody>
          <a:bodyPr anchor="b"/>
          <a:lstStyle>
            <a:lvl1pPr algn="l">
              <a:defRPr sz="3733"/>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072209" y="4848465"/>
            <a:ext cx="5785791" cy="1085849"/>
          </a:xfrm>
        </p:spPr>
        <p:txBody>
          <a:bodyPr>
            <a:normAutofit/>
          </a:bodyPr>
          <a:lstStyle>
            <a:lvl1pPr marL="0" indent="0" algn="l">
              <a:buNone/>
              <a:defRPr sz="2400"/>
            </a:lvl1pPr>
            <a:lvl2pPr marL="609585" indent="0" algn="ctr">
              <a:buNone/>
              <a:defRPr sz="240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2/19/2026</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143001" y="4571506"/>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639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072174" y="1045446"/>
            <a:ext cx="6928826"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072174" y="2286000"/>
            <a:ext cx="6928826"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2/19/2026</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09411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066309" y="1287554"/>
            <a:ext cx="6213722" cy="3113064"/>
          </a:xfrm>
        </p:spPr>
        <p:txBody>
          <a:bodyPr anchor="t"/>
          <a:lstStyle>
            <a:lvl1pPr>
              <a:defRPr sz="5867"/>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066308" y="4619708"/>
            <a:ext cx="5791692" cy="1476293"/>
          </a:xfrm>
        </p:spPr>
        <p:txBody>
          <a:bodyPr anchor="b">
            <a:normAutofit/>
          </a:bodyPr>
          <a:lstStyle>
            <a:lvl1pPr marL="0" indent="0">
              <a:buNone/>
              <a:defRPr sz="2400">
                <a:solidFill>
                  <a:schemeClr val="tx1">
                    <a:tint val="75000"/>
                  </a:schemeClr>
                </a:solidFill>
              </a:defRPr>
            </a:lvl1pPr>
            <a:lvl2pPr marL="609585" indent="0">
              <a:buNone/>
              <a:defRPr sz="2400">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2/19/2026</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29575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072174" y="1013411"/>
            <a:ext cx="6928826"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072175" y="2135566"/>
            <a:ext cx="337185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4629150" y="2135566"/>
            <a:ext cx="337185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2/19/2026</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654302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174" y="1079150"/>
            <a:ext cx="6928826"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072176" y="2013217"/>
            <a:ext cx="3371849" cy="704232"/>
          </a:xfrm>
        </p:spPr>
        <p:txBody>
          <a:bodyPr anchor="b">
            <a:normAutofit/>
          </a:bodyPr>
          <a:lstStyle>
            <a:lvl1pPr marL="0" indent="0">
              <a:lnSpc>
                <a:spcPct val="100000"/>
              </a:lnSpc>
              <a:buNone/>
              <a:defRPr sz="2400" b="0" cap="all" spc="400" baseline="0">
                <a:solidFill>
                  <a:schemeClr val="tx1"/>
                </a:solidFill>
                <a:latin typeface="+mj-lt"/>
              </a:defRPr>
            </a:lvl1pPr>
            <a:lvl2pPr marL="609585" indent="0">
              <a:buNone/>
              <a:defRPr sz="2400"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072175" y="3048000"/>
            <a:ext cx="337185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4629150" y="2013216"/>
            <a:ext cx="3371850" cy="704233"/>
          </a:xfrm>
        </p:spPr>
        <p:txBody>
          <a:bodyPr anchor="b">
            <a:normAutofit/>
          </a:bodyPr>
          <a:lstStyle>
            <a:lvl1pPr marL="0" indent="0">
              <a:lnSpc>
                <a:spcPct val="100000"/>
              </a:lnSpc>
              <a:buNone/>
              <a:defRPr sz="2400" b="0" cap="all" spc="400" baseline="0">
                <a:solidFill>
                  <a:schemeClr val="tx1"/>
                </a:solidFill>
                <a:latin typeface="+mj-lt"/>
              </a:defRPr>
            </a:lvl1pPr>
            <a:lvl2pPr marL="609585" indent="0">
              <a:buNone/>
              <a:defRPr sz="2400"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4629150" y="3048000"/>
            <a:ext cx="337185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2/19/2026</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4703046" y="2876662"/>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878879" y="4592407"/>
            <a:ext cx="606197"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143001" y="2876662"/>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485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2/19/2026</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874386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2/19/2026</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449695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082805" y="1558944"/>
            <a:ext cx="2459767" cy="1864196"/>
          </a:xfrm>
        </p:spPr>
        <p:txBody>
          <a:bodyPr anchor="b"/>
          <a:lstStyle>
            <a:lvl1pPr algn="r">
              <a:defRPr sz="3733">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4000501" y="762000"/>
            <a:ext cx="4000499" cy="5334000"/>
          </a:xfrm>
        </p:spPr>
        <p:txBody>
          <a:bodyPr anchor="ctr">
            <a:normAutofit/>
          </a:bodyPr>
          <a:lstStyle>
            <a:lvl1pPr>
              <a:defRPr sz="3733">
                <a:solidFill>
                  <a:schemeClr val="tx1"/>
                </a:solidFill>
              </a:defRPr>
            </a:lvl1pPr>
            <a:lvl2pPr>
              <a:defRPr sz="3200">
                <a:solidFill>
                  <a:schemeClr val="tx1"/>
                </a:solidFill>
              </a:defRPr>
            </a:lvl2pPr>
            <a:lvl3pPr>
              <a:defRPr sz="2667">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082806" y="3649683"/>
            <a:ext cx="2424822" cy="1933605"/>
          </a:xfrm>
        </p:spPr>
        <p:txBody>
          <a:bodyPr/>
          <a:lstStyle>
            <a:lvl1pPr marL="0" indent="0" algn="r">
              <a:buNone/>
              <a:defRPr sz="2133">
                <a:solidFill>
                  <a:schemeClr val="tx1"/>
                </a:solidFill>
              </a:defRPr>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2/19/2026</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62904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075157" y="1383126"/>
            <a:ext cx="2467415" cy="2045874"/>
          </a:xfrm>
        </p:spPr>
        <p:txBody>
          <a:bodyPr anchor="b"/>
          <a:lstStyle>
            <a:lvl1pPr algn="r">
              <a:defRPr sz="3733">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4000501" y="762000"/>
            <a:ext cx="4000499" cy="5334000"/>
          </a:xfrm>
        </p:spPr>
        <p:txBody>
          <a:bodyPr anchor="t"/>
          <a:lstStyle>
            <a:lvl1pPr marL="0" indent="0">
              <a:buNone/>
              <a:defRPr sz="4267">
                <a:solidFill>
                  <a:schemeClr val="tx1"/>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075158" y="3649683"/>
            <a:ext cx="2432469" cy="1684317"/>
          </a:xfrm>
        </p:spPr>
        <p:txBody>
          <a:bodyPr/>
          <a:lstStyle>
            <a:lvl1pPr marL="0" indent="0" algn="r">
              <a:buNone/>
              <a:defRPr sz="2133">
                <a:solidFill>
                  <a:schemeClr val="tx1"/>
                </a:solidFill>
              </a:defRPr>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2/19/2026</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002065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072174" y="2229958"/>
            <a:ext cx="6928826"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2/19/2026</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99335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6858000" y="1467700"/>
            <a:ext cx="1318846"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886735" y="1467700"/>
            <a:ext cx="5879534"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2/19/2026</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099567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072174" y="1041622"/>
            <a:ext cx="6928826"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072174" y="2286000"/>
            <a:ext cx="6928826"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7519154" y="4936959"/>
            <a:ext cx="2673295" cy="273844"/>
          </a:xfrm>
          <a:prstGeom prst="rect">
            <a:avLst/>
          </a:prstGeom>
        </p:spPr>
        <p:txBody>
          <a:bodyPr vert="horz" lIns="91440" tIns="45720" rIns="91440" bIns="45720" rtlCol="0" anchor="ctr"/>
          <a:lstStyle>
            <a:lvl1pPr algn="l">
              <a:defRPr sz="933" b="1" cap="all" spc="400" baseline="0">
                <a:solidFill>
                  <a:schemeClr val="tx1"/>
                </a:solidFill>
              </a:defRPr>
            </a:lvl1pPr>
          </a:lstStyle>
          <a:p>
            <a:fld id="{B70A3DFD-A535-46B2-84C1-61DC8B16A904}" type="datetimeFigureOut">
              <a:rPr lang="en-US" dirty="0"/>
              <a:t>2/19/2026</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7521088" y="1655534"/>
            <a:ext cx="2669427" cy="273844"/>
          </a:xfrm>
          <a:prstGeom prst="rect">
            <a:avLst/>
          </a:prstGeom>
        </p:spPr>
        <p:txBody>
          <a:bodyPr vert="horz" lIns="91440" tIns="45720" rIns="91440" bIns="45720" rtlCol="0" anchor="ctr"/>
          <a:lstStyle>
            <a:lvl1pPr algn="r">
              <a:defRPr sz="933" b="1" cap="all" spc="4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8619681" y="3219853"/>
            <a:ext cx="472240" cy="429830"/>
          </a:xfrm>
          <a:prstGeom prst="rect">
            <a:avLst/>
          </a:prstGeom>
        </p:spPr>
        <p:txBody>
          <a:bodyPr vert="horz" lIns="91440" tIns="45720" rIns="91440" bIns="45720" rtlCol="0" anchor="ctr"/>
          <a:lstStyle>
            <a:lvl1pPr algn="ctr">
              <a:defRPr sz="2133"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196361405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userDrawn="1">
          <p15:clr>
            <a:srgbClr val="F26B43"/>
          </p15:clr>
        </p15:guide>
        <p15:guide id="2" pos="2880" userDrawn="1">
          <p15:clr>
            <a:srgbClr val="F26B43"/>
          </p15:clr>
        </p15:guide>
        <p15:guide id="3" pos="5400" userDrawn="1">
          <p15:clr>
            <a:srgbClr val="F26B43"/>
          </p15:clr>
        </p15:guide>
        <p15:guide id="4" pos="5040" userDrawn="1">
          <p15:clr>
            <a:srgbClr val="F26B43"/>
          </p15:clr>
        </p15:guide>
        <p15:guide id="16" pos="360" userDrawn="1">
          <p15:clr>
            <a:srgbClr val="F26B43"/>
          </p15:clr>
        </p15:guide>
        <p15:guide id="23" orient="horz"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309" y="1287554"/>
            <a:ext cx="6213722" cy="3113064"/>
          </a:xfrm>
        </p:spPr>
        <p:txBody>
          <a:bodyPr anchor="t">
            <a:normAutofit/>
          </a:bodyPr>
          <a:lstStyle/>
          <a:p>
            <a:r>
              <a:rPr lang="en-GB" err="1"/>
              <a:t>AutoBid</a:t>
            </a:r>
            <a:r>
              <a:rPr lang="en-GB"/>
              <a:t> System Demo</a:t>
            </a:r>
          </a:p>
        </p:txBody>
      </p:sp>
      <p:sp>
        <p:nvSpPr>
          <p:cNvPr id="3" name="Subtitle 2"/>
          <p:cNvSpPr>
            <a:spLocks noGrp="1"/>
          </p:cNvSpPr>
          <p:nvPr>
            <p:ph type="body" idx="1"/>
          </p:nvPr>
        </p:nvSpPr>
        <p:spPr>
          <a:xfrm>
            <a:off x="1066308" y="4619708"/>
            <a:ext cx="5791692" cy="1476293"/>
          </a:xfrm>
        </p:spPr>
        <p:txBody>
          <a:bodyPr anchor="b">
            <a:normAutofit/>
          </a:bodyPr>
          <a:lstStyle/>
          <a:p>
            <a:r>
              <a:rPr lang="en-GB"/>
              <a:t>CSC 340 System Engineering-Rayyan, Gamal, Gopal</a:t>
            </a:r>
          </a:p>
        </p:txBody>
      </p:sp>
      <p:sp>
        <p:nvSpPr>
          <p:cNvPr id="8" name="Date Placeholder 3">
            <a:extLst>
              <a:ext uri="{FF2B5EF4-FFF2-40B4-BE49-F238E27FC236}">
                <a16:creationId xmlns:a16="http://schemas.microsoft.com/office/drawing/2014/main" id="{1D24C909-FE91-1EAE-87E0-1417FC5DE46A}"/>
              </a:ext>
            </a:extLst>
          </p:cNvPr>
          <p:cNvSpPr>
            <a:spLocks noGrp="1"/>
          </p:cNvSpPr>
          <p:nvPr>
            <p:ph type="dt" sz="half" idx="10"/>
          </p:nvPr>
        </p:nvSpPr>
        <p:spPr>
          <a:xfrm rot="5400000">
            <a:off x="7519154" y="4936959"/>
            <a:ext cx="2673295" cy="273844"/>
          </a:xfrm>
        </p:spPr>
        <p:txBody>
          <a:bodyPr/>
          <a:lstStyle/>
          <a:p>
            <a:pPr>
              <a:spcAft>
                <a:spcPts val="600"/>
              </a:spcAft>
            </a:pPr>
            <a:fld id="{F328BDCA-D41D-4532-926E-C9140DD64FD5}" type="datetime1">
              <a:rPr/>
              <a:pPr>
                <a:spcAft>
                  <a:spcPts val="600"/>
                </a:spcAft>
              </a:pPr>
              <a:t>2/19/2026</a:t>
            </a:fld>
            <a:endParaRPr lang="en-US"/>
          </a:p>
        </p:txBody>
      </p:sp>
      <p:sp>
        <p:nvSpPr>
          <p:cNvPr id="10" name="Footer Placeholder 4">
            <a:extLst>
              <a:ext uri="{FF2B5EF4-FFF2-40B4-BE49-F238E27FC236}">
                <a16:creationId xmlns:a16="http://schemas.microsoft.com/office/drawing/2014/main" id="{C58BF808-F6C3-9F9D-CF95-ABB70294C88C}"/>
              </a:ext>
            </a:extLst>
          </p:cNvPr>
          <p:cNvSpPr>
            <a:spLocks noGrp="1"/>
          </p:cNvSpPr>
          <p:nvPr>
            <p:ph type="ftr" sz="quarter" idx="11"/>
          </p:nvPr>
        </p:nvSpPr>
        <p:spPr>
          <a:xfrm rot="5400000">
            <a:off x="7521088" y="1655534"/>
            <a:ext cx="2669427" cy="273844"/>
          </a:xfrm>
        </p:spPr>
        <p:txBody>
          <a:bodyPr/>
          <a:lstStyle/>
          <a:p>
            <a:pPr>
              <a:spcAft>
                <a:spcPts val="600"/>
              </a:spcAft>
            </a:pPr>
            <a:r>
              <a:rPr lang="en-US"/>
              <a:t>
              </a:t>
            </a:r>
          </a:p>
        </p:txBody>
      </p:sp>
      <p:sp>
        <p:nvSpPr>
          <p:cNvPr id="12" name="Slide Number Placeholder 5">
            <a:extLst>
              <a:ext uri="{FF2B5EF4-FFF2-40B4-BE49-F238E27FC236}">
                <a16:creationId xmlns:a16="http://schemas.microsoft.com/office/drawing/2014/main" id="{E8B43451-CEDA-CAD0-F875-756D05635191}"/>
              </a:ext>
            </a:extLst>
          </p:cNvPr>
          <p:cNvSpPr>
            <a:spLocks noGrp="1"/>
          </p:cNvSpPr>
          <p:nvPr>
            <p:ph type="sldNum" sz="quarter" idx="12"/>
          </p:nvPr>
        </p:nvSpPr>
        <p:spPr>
          <a:xfrm>
            <a:off x="8619681" y="3219853"/>
            <a:ext cx="472240" cy="429830"/>
          </a:xfrm>
        </p:spPr>
        <p:txBody>
          <a:bodyPr/>
          <a:lstStyle/>
          <a:p>
            <a:pPr>
              <a:spcAft>
                <a:spcPts val="600"/>
              </a:spcAft>
            </a:pPr>
            <a:fld id="{196A61CA-0502-4EE4-9724-96EA822543E5}" type="slidenum">
              <a:rPr lang="en-US" dirty="0"/>
              <a:pPr>
                <a:spcAft>
                  <a:spcPts val="600"/>
                </a:spcAft>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a:solidFill>
                  <a:srgbClr val="FFFFFF"/>
                </a:solidFill>
              </a:rPr>
              <a:t>System Overview</a:t>
            </a:r>
          </a:p>
        </p:txBody>
      </p:sp>
      <p:sp>
        <p:nvSpPr>
          <p:cNvPr id="3" name="Content Placeholder 2"/>
          <p:cNvSpPr>
            <a:spLocks noGrp="1"/>
          </p:cNvSpPr>
          <p:nvPr>
            <p:ph idx="1"/>
          </p:nvPr>
        </p:nvSpPr>
        <p:spPr/>
        <p:txBody>
          <a:bodyPr/>
          <a:lstStyle/>
          <a:p>
            <a:r>
              <a:rPr sz="2400" dirty="0">
                <a:solidFill>
                  <a:srgbClr val="FFFFFF"/>
                </a:solidFill>
              </a:rPr>
              <a:t>Mobile detailing &amp; onsite mechanic booking platform</a:t>
            </a:r>
          </a:p>
          <a:p>
            <a:r>
              <a:rPr sz="2400" dirty="0">
                <a:solidFill>
                  <a:srgbClr val="FFFFFF"/>
                </a:solidFill>
              </a:rPr>
              <a:t>Connects customers with service providers</a:t>
            </a:r>
          </a:p>
          <a:p>
            <a:r>
              <a:rPr sz="2400" dirty="0">
                <a:solidFill>
                  <a:srgbClr val="FFFFFF"/>
                </a:solidFill>
              </a:rPr>
              <a:t>Improves convenience and service scheduling</a:t>
            </a:r>
            <a:endParaRPr lang="en-US" sz="2400" dirty="0">
              <a:solidFill>
                <a:srgbClr val="FFFFFF"/>
              </a:solidFill>
            </a:endParaRPr>
          </a:p>
          <a:p>
            <a:r>
              <a:rPr lang="en-US" sz="2400" dirty="0">
                <a:solidFill>
                  <a:srgbClr val="FFFFFF"/>
                </a:solidFill>
              </a:rPr>
              <a:t>Allows system admins to regulate the program and moderate users listing and </a:t>
            </a:r>
            <a:r>
              <a:rPr lang="en-US" sz="2400" dirty="0" err="1">
                <a:solidFill>
                  <a:srgbClr val="FFFFFF"/>
                </a:solidFill>
              </a:rPr>
              <a:t>reveiws</a:t>
            </a:r>
            <a:endParaRPr sz="2400"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a:solidFill>
                  <a:srgbClr val="FFFFFF"/>
                </a:solidFill>
              </a:rPr>
              <a:t>System Description</a:t>
            </a:r>
          </a:p>
        </p:txBody>
      </p:sp>
      <p:sp>
        <p:nvSpPr>
          <p:cNvPr id="3" name="Content Placeholder 2"/>
          <p:cNvSpPr>
            <a:spLocks noGrp="1"/>
          </p:cNvSpPr>
          <p:nvPr>
            <p:ph idx="1"/>
          </p:nvPr>
        </p:nvSpPr>
        <p:spPr/>
        <p:txBody>
          <a:bodyPr/>
          <a:lstStyle/>
          <a:p>
            <a:r>
              <a:rPr sz="2400" dirty="0">
                <a:solidFill>
                  <a:srgbClr val="FFFFFF"/>
                </a:solidFill>
              </a:rPr>
              <a:t>Role-based system: Customer, Service Provider, Admin</a:t>
            </a:r>
          </a:p>
          <a:p>
            <a:r>
              <a:rPr sz="2400" dirty="0">
                <a:solidFill>
                  <a:srgbClr val="FFFFFF"/>
                </a:solidFill>
              </a:rPr>
              <a:t>Account registration and authentication</a:t>
            </a:r>
          </a:p>
          <a:p>
            <a:r>
              <a:rPr sz="2400" dirty="0">
                <a:solidFill>
                  <a:srgbClr val="FFFFFF"/>
                </a:solidFill>
              </a:rPr>
              <a:t>Service selection and booking workflow</a:t>
            </a:r>
          </a:p>
          <a:p>
            <a:r>
              <a:rPr sz="2400" dirty="0">
                <a:solidFill>
                  <a:srgbClr val="FFFFFF"/>
                </a:solidFill>
              </a:rPr>
              <a:t>Appointment management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3378" y="-174928"/>
            <a:ext cx="7467560" cy="1438780"/>
          </a:xfrm>
        </p:spPr>
        <p:txBody>
          <a:bodyPr/>
          <a:lstStyle/>
          <a:p>
            <a:r>
              <a:rPr sz="2400">
                <a:solidFill>
                  <a:srgbClr val="FFFFFF"/>
                </a:solidFill>
              </a:rPr>
              <a:t>Main Functionalities</a:t>
            </a:r>
          </a:p>
        </p:txBody>
      </p:sp>
      <p:sp>
        <p:nvSpPr>
          <p:cNvPr id="3" name="Content Placeholder 2"/>
          <p:cNvSpPr>
            <a:spLocks noGrp="1"/>
          </p:cNvSpPr>
          <p:nvPr>
            <p:ph idx="1"/>
          </p:nvPr>
        </p:nvSpPr>
        <p:spPr>
          <a:xfrm>
            <a:off x="251601" y="1495086"/>
            <a:ext cx="7467560" cy="3870181"/>
          </a:xfrm>
        </p:spPr>
        <p:txBody>
          <a:bodyPr>
            <a:normAutofit fontScale="85000" lnSpcReduction="20000"/>
          </a:bodyPr>
          <a:lstStyle/>
          <a:p>
            <a:r>
              <a:rPr sz="2400" dirty="0">
                <a:solidFill>
                  <a:srgbClr val="FFFFFF"/>
                </a:solidFill>
              </a:rPr>
              <a:t>User sign-up and login</a:t>
            </a:r>
          </a:p>
          <a:p>
            <a:r>
              <a:rPr sz="2400" dirty="0">
                <a:solidFill>
                  <a:srgbClr val="FFFFFF"/>
                </a:solidFill>
              </a:rPr>
              <a:t>Role selection and dashboards</a:t>
            </a:r>
          </a:p>
          <a:p>
            <a:r>
              <a:rPr sz="2400" dirty="0">
                <a:solidFill>
                  <a:srgbClr val="FFFFFF"/>
                </a:solidFill>
              </a:rPr>
              <a:t>Book mobile detailing services</a:t>
            </a:r>
          </a:p>
          <a:p>
            <a:r>
              <a:rPr sz="2400" dirty="0">
                <a:solidFill>
                  <a:srgbClr val="FFFFFF"/>
                </a:solidFill>
              </a:rPr>
              <a:t>Book onsite mechanic services</a:t>
            </a:r>
          </a:p>
          <a:p>
            <a:r>
              <a:rPr sz="2400" dirty="0">
                <a:solidFill>
                  <a:srgbClr val="FFFFFF"/>
                </a:solidFill>
              </a:rPr>
              <a:t>Manage appointments and service requests</a:t>
            </a:r>
            <a:endParaRPr lang="en-US" sz="2400" dirty="0">
              <a:solidFill>
                <a:srgbClr val="FFFFFF"/>
              </a:solidFill>
            </a:endParaRPr>
          </a:p>
          <a:p>
            <a:r>
              <a:rPr lang="en-US" sz="2400" dirty="0">
                <a:solidFill>
                  <a:srgbClr val="FFFFFF"/>
                </a:solidFill>
              </a:rPr>
              <a:t>Customer: register, login, schedule service</a:t>
            </a:r>
          </a:p>
          <a:p>
            <a:r>
              <a:rPr lang="en-US" sz="2400" dirty="0">
                <a:solidFill>
                  <a:srgbClr val="FFFFFF"/>
                </a:solidFill>
              </a:rPr>
              <a:t>Service Provider: manage and view bookings</a:t>
            </a:r>
          </a:p>
          <a:p>
            <a:r>
              <a:rPr lang="en-US" sz="2400" dirty="0">
                <a:solidFill>
                  <a:srgbClr val="FFFFFF"/>
                </a:solidFill>
              </a:rPr>
              <a:t>Admin: monitor users and system activity</a:t>
            </a:r>
          </a:p>
          <a:p>
            <a:endParaRPr sz="2400"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FFFFF"/>
                </a:solidFill>
              </a:rPr>
              <a:t>Possible </a:t>
            </a:r>
            <a:r>
              <a:rPr sz="2400" dirty="0">
                <a:solidFill>
                  <a:srgbClr val="FFFFFF"/>
                </a:solidFill>
              </a:rPr>
              <a:t>Future Improvements</a:t>
            </a:r>
          </a:p>
        </p:txBody>
      </p:sp>
      <p:sp>
        <p:nvSpPr>
          <p:cNvPr id="3" name="Content Placeholder 2"/>
          <p:cNvSpPr>
            <a:spLocks noGrp="1"/>
          </p:cNvSpPr>
          <p:nvPr>
            <p:ph idx="1"/>
          </p:nvPr>
        </p:nvSpPr>
        <p:spPr/>
        <p:txBody>
          <a:bodyPr/>
          <a:lstStyle/>
          <a:p>
            <a:r>
              <a:rPr sz="2400" dirty="0">
                <a:solidFill>
                  <a:srgbClr val="FFFFFF"/>
                </a:solidFill>
              </a:rPr>
              <a:t>Payment processing integration</a:t>
            </a:r>
          </a:p>
          <a:p>
            <a:r>
              <a:rPr sz="2400" dirty="0">
                <a:solidFill>
                  <a:srgbClr val="FFFFFF"/>
                </a:solidFill>
              </a:rPr>
              <a:t>Real-time provider tracking</a:t>
            </a:r>
          </a:p>
          <a:p>
            <a:r>
              <a:rPr sz="2400" dirty="0">
                <a:solidFill>
                  <a:srgbClr val="FFFFFF"/>
                </a:solidFill>
              </a:rPr>
              <a:t>Mobile application version</a:t>
            </a:r>
          </a:p>
          <a:p>
            <a:r>
              <a:rPr sz="2400" dirty="0">
                <a:solidFill>
                  <a:srgbClr val="FFFFFF"/>
                </a:solidFill>
              </a:rPr>
              <a:t>Expanded service provider network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906F4-867F-3CF4-05AA-255F5BEF4C11}"/>
              </a:ext>
            </a:extLst>
          </p:cNvPr>
          <p:cNvSpPr>
            <a:spLocks noGrp="1"/>
          </p:cNvSpPr>
          <p:nvPr>
            <p:ph type="title"/>
          </p:nvPr>
        </p:nvSpPr>
        <p:spPr>
          <a:xfrm>
            <a:off x="2053465" y="1767"/>
            <a:ext cx="7467560" cy="1438780"/>
          </a:xfrm>
        </p:spPr>
        <p:txBody>
          <a:bodyPr>
            <a:normAutofit/>
          </a:bodyPr>
          <a:lstStyle/>
          <a:p>
            <a:r>
              <a:rPr lang="en-US" sz="3600" b="0" dirty="0">
                <a:ea typeface="+mj-lt"/>
                <a:cs typeface="+mj-lt"/>
              </a:rPr>
              <a:t>Customer Workflow</a:t>
            </a:r>
            <a:endParaRPr lang="en-US" sz="3600" dirty="0"/>
          </a:p>
        </p:txBody>
      </p:sp>
      <p:sp>
        <p:nvSpPr>
          <p:cNvPr id="3" name="Content Placeholder 2">
            <a:extLst>
              <a:ext uri="{FF2B5EF4-FFF2-40B4-BE49-F238E27FC236}">
                <a16:creationId xmlns:a16="http://schemas.microsoft.com/office/drawing/2014/main" id="{B4E34CC9-E15B-9000-C384-FA97B6DB53A0}"/>
              </a:ext>
            </a:extLst>
          </p:cNvPr>
          <p:cNvSpPr>
            <a:spLocks noGrp="1"/>
          </p:cNvSpPr>
          <p:nvPr>
            <p:ph idx="1"/>
          </p:nvPr>
        </p:nvSpPr>
        <p:spPr>
          <a:xfrm>
            <a:off x="240558" y="1986521"/>
            <a:ext cx="8328951" cy="4858572"/>
          </a:xfrm>
        </p:spPr>
        <p:txBody>
          <a:bodyPr vert="horz" lIns="91440" tIns="45720" rIns="91440" bIns="45720" rtlCol="0" anchor="t">
            <a:normAutofit/>
          </a:bodyPr>
          <a:lstStyle/>
          <a:p>
            <a:r>
              <a:rPr lang="en-US" dirty="0">
                <a:ea typeface="+mn-lt"/>
                <a:cs typeface="+mn-lt"/>
              </a:rPr>
              <a:t>Login → Dashboard</a:t>
            </a:r>
            <a:endParaRPr lang="en-US" dirty="0"/>
          </a:p>
          <a:p>
            <a:r>
              <a:rPr lang="en-US" dirty="0">
                <a:ea typeface="+mn-lt"/>
                <a:cs typeface="+mn-lt"/>
              </a:rPr>
              <a:t>Browse services</a:t>
            </a:r>
            <a:endParaRPr lang="en-US" dirty="0"/>
          </a:p>
          <a:p>
            <a:r>
              <a:rPr lang="en-US" dirty="0">
                <a:ea typeface="+mn-lt"/>
                <a:cs typeface="+mn-lt"/>
              </a:rPr>
              <a:t>Select provider</a:t>
            </a:r>
            <a:endParaRPr lang="en-US" dirty="0"/>
          </a:p>
          <a:p>
            <a:r>
              <a:rPr lang="en-US" dirty="0">
                <a:ea typeface="+mn-lt"/>
                <a:cs typeface="+mn-lt"/>
              </a:rPr>
              <a:t>Schedule appointment</a:t>
            </a:r>
            <a:endParaRPr lang="en-US" dirty="0"/>
          </a:p>
          <a:p>
            <a:r>
              <a:rPr lang="en-US" dirty="0">
                <a:ea typeface="+mn-lt"/>
                <a:cs typeface="+mn-lt"/>
              </a:rPr>
              <a:t>View confirmation</a:t>
            </a:r>
            <a:endParaRPr lang="en-US" dirty="0"/>
          </a:p>
          <a:p>
            <a:r>
              <a:rPr lang="en-US" dirty="0">
                <a:ea typeface="+mn-lt"/>
                <a:cs typeface="+mn-lt"/>
              </a:rPr>
              <a:t>Manage bookings</a:t>
            </a:r>
          </a:p>
          <a:p>
            <a:endParaRPr lang="en-US" dirty="0"/>
          </a:p>
          <a:p>
            <a:pPr marL="0" indent="0">
              <a:buNone/>
            </a:pPr>
            <a:r>
              <a:rPr lang="en-US" dirty="0">
                <a:ea typeface="+mn-lt"/>
                <a:cs typeface="+mn-lt"/>
              </a:rPr>
              <a:t>My part focuses on the customer side of </a:t>
            </a:r>
            <a:r>
              <a:rPr lang="en-US" dirty="0" err="1">
                <a:ea typeface="+mn-lt"/>
                <a:cs typeface="+mn-lt"/>
              </a:rPr>
              <a:t>AutoBid</a:t>
            </a:r>
            <a:r>
              <a:rPr lang="en-US" dirty="0">
                <a:ea typeface="+mn-lt"/>
                <a:cs typeface="+mn-lt"/>
              </a:rPr>
              <a:t>. Customers can register, log in, browse services, select a provider, and schedule an appointment. The dashboard allows them to manage bookings and view upcoming services.</a:t>
            </a:r>
            <a:endParaRPr lang="en-US"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194D1F37-4B5E-BD38-2D74-85B916D0A3B1}"/>
                  </a:ext>
                </a:extLst>
              </p14:cNvPr>
              <p14:cNvContentPartPr/>
              <p14:nvPr/>
            </p14:nvContentPartPr>
            <p14:xfrm>
              <a:off x="1705268" y="1500661"/>
              <a:ext cx="11043" cy="11043"/>
            </p14:xfrm>
          </p:contentPart>
        </mc:Choice>
        <mc:Fallback xmlns="">
          <p:pic>
            <p:nvPicPr>
              <p:cNvPr id="11" name="Ink 10">
                <a:extLst>
                  <a:ext uri="{FF2B5EF4-FFF2-40B4-BE49-F238E27FC236}">
                    <a16:creationId xmlns:a16="http://schemas.microsoft.com/office/drawing/2014/main" id="{194D1F37-4B5E-BD38-2D74-85B916D0A3B1}"/>
                  </a:ext>
                </a:extLst>
              </p:cNvPr>
              <p:cNvPicPr/>
              <p:nvPr/>
            </p:nvPicPr>
            <p:blipFill>
              <a:blip r:embed="rId3"/>
              <a:stretch>
                <a:fillRect/>
              </a:stretch>
            </p:blipFill>
            <p:spPr>
              <a:xfrm>
                <a:off x="1659255" y="1454648"/>
                <a:ext cx="102148" cy="102148"/>
              </a:xfrm>
              <a:prstGeom prst="rect">
                <a:avLst/>
              </a:prstGeom>
            </p:spPr>
          </p:pic>
        </mc:Fallback>
      </mc:AlternateContent>
    </p:spTree>
    <p:extLst>
      <p:ext uri="{BB962C8B-B14F-4D97-AF65-F5344CB8AC3E}">
        <p14:creationId xmlns:p14="http://schemas.microsoft.com/office/powerpoint/2010/main" val="2485775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6F93C-254C-52A6-F30D-461291F04BE6}"/>
              </a:ext>
            </a:extLst>
          </p:cNvPr>
          <p:cNvSpPr>
            <a:spLocks noGrp="1"/>
          </p:cNvSpPr>
          <p:nvPr>
            <p:ph type="title"/>
          </p:nvPr>
        </p:nvSpPr>
        <p:spPr/>
        <p:txBody>
          <a:bodyPr/>
          <a:lstStyle/>
          <a:p>
            <a:r>
              <a:rPr lang="en-GB" dirty="0"/>
              <a:t>Provider </a:t>
            </a:r>
          </a:p>
        </p:txBody>
      </p:sp>
      <p:sp>
        <p:nvSpPr>
          <p:cNvPr id="3" name="Content Placeholder 2">
            <a:extLst>
              <a:ext uri="{FF2B5EF4-FFF2-40B4-BE49-F238E27FC236}">
                <a16:creationId xmlns:a16="http://schemas.microsoft.com/office/drawing/2014/main" id="{87118A2F-04E1-E38B-C94F-A452E8EB337B}"/>
              </a:ext>
            </a:extLst>
          </p:cNvPr>
          <p:cNvSpPr>
            <a:spLocks noGrp="1"/>
          </p:cNvSpPr>
          <p:nvPr>
            <p:ph idx="1"/>
          </p:nvPr>
        </p:nvSpPr>
        <p:spPr/>
        <p:txBody>
          <a:bodyPr>
            <a:normAutofit fontScale="85000" lnSpcReduction="10000"/>
          </a:bodyPr>
          <a:lstStyle/>
          <a:p>
            <a:r>
              <a:rPr lang="en-US" dirty="0"/>
              <a:t>Login → Provider Dashboard</a:t>
            </a:r>
          </a:p>
          <a:p>
            <a:r>
              <a:rPr lang="en-US" dirty="0"/>
              <a:t>• View service requests</a:t>
            </a:r>
          </a:p>
          <a:p>
            <a:r>
              <a:rPr lang="en-US" dirty="0"/>
              <a:t>• Accept or decline bookings</a:t>
            </a:r>
          </a:p>
          <a:p>
            <a:r>
              <a:rPr lang="en-US" dirty="0"/>
              <a:t>• View scheduled appointments</a:t>
            </a:r>
          </a:p>
          <a:p>
            <a:r>
              <a:rPr lang="en-US" dirty="0"/>
              <a:t>• Update service status</a:t>
            </a:r>
          </a:p>
          <a:p>
            <a:r>
              <a:rPr lang="en-US" dirty="0"/>
              <a:t>• Manage availability</a:t>
            </a:r>
          </a:p>
          <a:p>
            <a:pPr marL="0" indent="0">
              <a:buNone/>
            </a:pPr>
            <a:r>
              <a:rPr lang="en-US" dirty="0"/>
              <a:t>This part focuses on the service provider role in </a:t>
            </a:r>
            <a:r>
              <a:rPr lang="en-US" dirty="0" err="1"/>
              <a:t>AutoBid</a:t>
            </a:r>
            <a:r>
              <a:rPr lang="en-US" dirty="0"/>
              <a:t>. Providers log in to access their dashboard where they can view service requests, manage bookings, and track upcoming appointments. The dashboard allows providers to respond to customer requests and manage their work schedule through the platform.</a:t>
            </a:r>
          </a:p>
          <a:p>
            <a:endParaRPr lang="en-GB" dirty="0"/>
          </a:p>
        </p:txBody>
      </p:sp>
      <p:sp>
        <p:nvSpPr>
          <p:cNvPr id="4" name="Date Placeholder 3">
            <a:extLst>
              <a:ext uri="{FF2B5EF4-FFF2-40B4-BE49-F238E27FC236}">
                <a16:creationId xmlns:a16="http://schemas.microsoft.com/office/drawing/2014/main" id="{9508A021-1671-EA0B-9F4C-95BD755067E3}"/>
              </a:ext>
            </a:extLst>
          </p:cNvPr>
          <p:cNvSpPr>
            <a:spLocks noGrp="1"/>
          </p:cNvSpPr>
          <p:nvPr>
            <p:ph type="dt" sz="half" idx="10"/>
          </p:nvPr>
        </p:nvSpPr>
        <p:spPr/>
        <p:txBody>
          <a:bodyPr/>
          <a:lstStyle/>
          <a:p>
            <a:fld id="{3D7D36D6-50AE-4C2C-B458-534BDC34C4FA}" type="datetime1">
              <a:rPr/>
              <a:t>2/19/2026</a:t>
            </a:fld>
            <a:endParaRPr lang="en-US" dirty="0"/>
          </a:p>
        </p:txBody>
      </p:sp>
      <p:sp>
        <p:nvSpPr>
          <p:cNvPr id="5" name="Footer Placeholder 4">
            <a:extLst>
              <a:ext uri="{FF2B5EF4-FFF2-40B4-BE49-F238E27FC236}">
                <a16:creationId xmlns:a16="http://schemas.microsoft.com/office/drawing/2014/main" id="{2E30812F-F05F-5399-380B-72326429DE4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3EC197A-9F5A-3DF5-2309-473837B9D707}"/>
              </a:ext>
            </a:extLst>
          </p:cNvPr>
          <p:cNvSpPr>
            <a:spLocks noGrp="1"/>
          </p:cNvSpPr>
          <p:nvPr>
            <p:ph type="sldNum" sz="quarter" idx="12"/>
          </p:nvPr>
        </p:nvSpPr>
        <p:spPr/>
        <p:txBody>
          <a:bodyPr/>
          <a:lstStyle/>
          <a:p>
            <a:fld id="{196A61CA-0502-4EE4-9724-96EA822543E5}" type="slidenum">
              <a:rPr lang="en-US" dirty="0"/>
              <a:t>7</a:t>
            </a:fld>
            <a:endParaRPr lang="en-US" dirty="0"/>
          </a:p>
        </p:txBody>
      </p:sp>
    </p:spTree>
    <p:extLst>
      <p:ext uri="{BB962C8B-B14F-4D97-AF65-F5344CB8AC3E}">
        <p14:creationId xmlns:p14="http://schemas.microsoft.com/office/powerpoint/2010/main" val="201697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6D5CC-BF51-B3EA-B69E-D8D3D5D9EE26}"/>
              </a:ext>
            </a:extLst>
          </p:cNvPr>
          <p:cNvSpPr>
            <a:spLocks noGrp="1"/>
          </p:cNvSpPr>
          <p:nvPr>
            <p:ph type="title"/>
          </p:nvPr>
        </p:nvSpPr>
        <p:spPr/>
        <p:txBody>
          <a:bodyPr/>
          <a:lstStyle/>
          <a:p>
            <a:r>
              <a:rPr lang="en-US" dirty="0"/>
              <a:t>System admin</a:t>
            </a:r>
          </a:p>
        </p:txBody>
      </p:sp>
      <p:sp>
        <p:nvSpPr>
          <p:cNvPr id="3" name="Content Placeholder 2">
            <a:extLst>
              <a:ext uri="{FF2B5EF4-FFF2-40B4-BE49-F238E27FC236}">
                <a16:creationId xmlns:a16="http://schemas.microsoft.com/office/drawing/2014/main" id="{1B2B2C8B-1F3E-7C48-5770-7B3FB2AB9138}"/>
              </a:ext>
            </a:extLst>
          </p:cNvPr>
          <p:cNvSpPr>
            <a:spLocks noGrp="1"/>
          </p:cNvSpPr>
          <p:nvPr>
            <p:ph idx="1"/>
          </p:nvPr>
        </p:nvSpPr>
        <p:spPr/>
        <p:txBody>
          <a:bodyPr>
            <a:normAutofit fontScale="85000" lnSpcReduction="10000"/>
          </a:bodyPr>
          <a:lstStyle/>
          <a:p>
            <a:r>
              <a:rPr lang="en-US" b="1" dirty="0"/>
              <a:t>Login → Admin Dashboard</a:t>
            </a:r>
            <a:br>
              <a:rPr lang="en-US" dirty="0"/>
            </a:br>
            <a:r>
              <a:rPr lang="en-US" b="1" dirty="0"/>
              <a:t>• View system overview (metrics/activity)</a:t>
            </a:r>
            <a:br>
              <a:rPr lang="en-US" dirty="0"/>
            </a:br>
            <a:r>
              <a:rPr lang="en-US" b="1" dirty="0"/>
              <a:t>• Review bookings / service requests</a:t>
            </a:r>
            <a:br>
              <a:rPr lang="en-US" dirty="0"/>
            </a:br>
            <a:r>
              <a:rPr lang="en-US" b="1" dirty="0"/>
              <a:t>• View providers list </a:t>
            </a:r>
          </a:p>
          <a:p>
            <a:r>
              <a:rPr lang="en-US" b="1" dirty="0"/>
              <a:t>• View users list</a:t>
            </a:r>
            <a:br>
              <a:rPr lang="en-US" dirty="0"/>
            </a:br>
            <a:r>
              <a:rPr lang="en-US" b="1" dirty="0"/>
              <a:t>• Manage system settings (services)</a:t>
            </a:r>
          </a:p>
          <a:p>
            <a:r>
              <a:rPr lang="en-US" dirty="0"/>
              <a:t>My part focuses on the System Admin side of </a:t>
            </a:r>
            <a:r>
              <a:rPr lang="en-US" dirty="0" err="1"/>
              <a:t>AutoBid</a:t>
            </a:r>
            <a:r>
              <a:rPr lang="en-US" dirty="0"/>
              <a:t>. Admins can log in to access the Admin Dashboard, view overall system activity, and review bookings/service requests. The dashboard provides navigation to provider and user management sections and system settings; in our high-fidelity prototype these sections are included as visual placeholders to show intended the  functionality for later implementation.</a:t>
            </a:r>
          </a:p>
        </p:txBody>
      </p:sp>
      <p:sp>
        <p:nvSpPr>
          <p:cNvPr id="4" name="Date Placeholder 3">
            <a:extLst>
              <a:ext uri="{FF2B5EF4-FFF2-40B4-BE49-F238E27FC236}">
                <a16:creationId xmlns:a16="http://schemas.microsoft.com/office/drawing/2014/main" id="{B1726FA3-6662-8490-652B-F8A866B85736}"/>
              </a:ext>
            </a:extLst>
          </p:cNvPr>
          <p:cNvSpPr>
            <a:spLocks noGrp="1"/>
          </p:cNvSpPr>
          <p:nvPr>
            <p:ph type="dt" sz="half" idx="10"/>
          </p:nvPr>
        </p:nvSpPr>
        <p:spPr/>
        <p:txBody>
          <a:bodyPr/>
          <a:lstStyle/>
          <a:p>
            <a:fld id="{D385C6CA-D4E1-4473-9997-0B4F4CAEB60A}" type="datetime1">
              <a:rPr lang="en-US" smtClean="0"/>
              <a:t>2/19/2026</a:t>
            </a:fld>
            <a:endParaRPr lang="en-US" dirty="0"/>
          </a:p>
        </p:txBody>
      </p:sp>
      <p:sp>
        <p:nvSpPr>
          <p:cNvPr id="5" name="Footer Placeholder 4">
            <a:extLst>
              <a:ext uri="{FF2B5EF4-FFF2-40B4-BE49-F238E27FC236}">
                <a16:creationId xmlns:a16="http://schemas.microsoft.com/office/drawing/2014/main" id="{43BB1C66-5A72-1162-2882-1DBA01E1F948}"/>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7219CE6-57D8-1137-D23B-C21AC7DF727A}"/>
              </a:ext>
            </a:extLst>
          </p:cNvPr>
          <p:cNvSpPr>
            <a:spLocks noGrp="1"/>
          </p:cNvSpPr>
          <p:nvPr>
            <p:ph type="sldNum" sz="quarter" idx="12"/>
          </p:nvPr>
        </p:nvSpPr>
        <p:spPr/>
        <p:txBody>
          <a:bodyPr/>
          <a:lstStyle/>
          <a:p>
            <a:fld id="{196A61CA-0502-4EE4-9724-96EA822543E5}" type="slidenum">
              <a:rPr lang="en-US" smtClean="0"/>
              <a:t>8</a:t>
            </a:fld>
            <a:endParaRPr lang="en-US" dirty="0"/>
          </a:p>
        </p:txBody>
      </p:sp>
    </p:spTree>
    <p:extLst>
      <p:ext uri="{BB962C8B-B14F-4D97-AF65-F5344CB8AC3E}">
        <p14:creationId xmlns:p14="http://schemas.microsoft.com/office/powerpoint/2010/main" val="3776757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5DC2F-42E0-27EB-EA12-2C7362A86F08}"/>
              </a:ext>
            </a:extLst>
          </p:cNvPr>
          <p:cNvSpPr>
            <a:spLocks noGrp="1"/>
          </p:cNvSpPr>
          <p:nvPr>
            <p:ph type="title"/>
          </p:nvPr>
        </p:nvSpPr>
        <p:spPr>
          <a:xfrm>
            <a:off x="1769669" y="73863"/>
            <a:ext cx="7467560" cy="1438780"/>
          </a:xfrm>
        </p:spPr>
        <p:txBody>
          <a:bodyPr>
            <a:normAutofit/>
          </a:bodyPr>
          <a:lstStyle/>
          <a:p>
            <a:r>
              <a:rPr lang="en-US" sz="3600" b="0" dirty="0">
                <a:ea typeface="+mj-lt"/>
                <a:cs typeface="+mj-lt"/>
              </a:rPr>
              <a:t>link</a:t>
            </a:r>
            <a:endParaRPr lang="en-US" sz="3600" dirty="0"/>
          </a:p>
        </p:txBody>
      </p:sp>
      <p:sp>
        <p:nvSpPr>
          <p:cNvPr id="3" name="Content Placeholder 2">
            <a:extLst>
              <a:ext uri="{FF2B5EF4-FFF2-40B4-BE49-F238E27FC236}">
                <a16:creationId xmlns:a16="http://schemas.microsoft.com/office/drawing/2014/main" id="{80BCEA0B-790F-88C6-E01F-59252A438F64}"/>
              </a:ext>
            </a:extLst>
          </p:cNvPr>
          <p:cNvSpPr>
            <a:spLocks noGrp="1"/>
          </p:cNvSpPr>
          <p:nvPr>
            <p:ph idx="1"/>
          </p:nvPr>
        </p:nvSpPr>
        <p:spPr>
          <a:xfrm>
            <a:off x="179714" y="2047990"/>
            <a:ext cx="7467560" cy="3870181"/>
          </a:xfrm>
        </p:spPr>
        <p:txBody>
          <a:bodyPr vert="horz" lIns="91440" tIns="45720" rIns="91440" bIns="45720" rtlCol="0" anchor="t">
            <a:normAutofit/>
          </a:bodyPr>
          <a:lstStyle/>
          <a:p>
            <a:pPr marL="0" indent="0">
              <a:buNone/>
            </a:pPr>
            <a:endParaRPr lang="en-US" dirty="0">
              <a:ea typeface="+mn-lt"/>
              <a:cs typeface="+mn-lt"/>
            </a:endParaRPr>
          </a:p>
          <a:p>
            <a:endParaRPr lang="en-US" dirty="0"/>
          </a:p>
          <a:p>
            <a:r>
              <a:rPr lang="en-US" dirty="0">
                <a:ea typeface="+mn-lt"/>
                <a:cs typeface="+mn-lt"/>
              </a:rPr>
              <a:t>http://127.0.0.1:3000/high-fidelity-prototype/Customer/customerdashboard.html?serverWindowId=bebe6325-dd25-47ad-a38c-aa5746f811b4</a:t>
            </a:r>
            <a:endParaRPr lang="en-US" dirty="0"/>
          </a:p>
        </p:txBody>
      </p:sp>
    </p:spTree>
    <p:extLst>
      <p:ext uri="{BB962C8B-B14F-4D97-AF65-F5344CB8AC3E}">
        <p14:creationId xmlns:p14="http://schemas.microsoft.com/office/powerpoint/2010/main" val="2605148209"/>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4e6298b-04fa-4dc8-868c-f77e0db41fc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240A2BFB4C41D4F8A55538012C07922" ma:contentTypeVersion="6" ma:contentTypeDescription="Create a new document." ma:contentTypeScope="" ma:versionID="212d03dd1a8ebf47e8fc90e9ca682e19">
  <xsd:schema xmlns:xsd="http://www.w3.org/2001/XMLSchema" xmlns:xs="http://www.w3.org/2001/XMLSchema" xmlns:p="http://schemas.microsoft.com/office/2006/metadata/properties" xmlns:ns3="c4e6298b-04fa-4dc8-868c-f77e0db41fc7" targetNamespace="http://schemas.microsoft.com/office/2006/metadata/properties" ma:root="true" ma:fieldsID="8b9c43e624471aecf83ec70614c6cefc" ns3:_="">
    <xsd:import namespace="c4e6298b-04fa-4dc8-868c-f77e0db41fc7"/>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6298b-04fa-4dc8-868c-f77e0db41f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9466E5-A0A9-4B1C-8990-A2A79B0B23AF}">
  <ds:schemaRefs>
    <ds:schemaRef ds:uri="http://purl.org/dc/dcmitype/"/>
    <ds:schemaRef ds:uri="http://schemas.microsoft.com/office/2006/documentManagement/types"/>
    <ds:schemaRef ds:uri="http://purl.org/dc/terms/"/>
    <ds:schemaRef ds:uri="http://purl.org/dc/elements/1.1/"/>
    <ds:schemaRef ds:uri="c4e6298b-04fa-4dc8-868c-f77e0db41fc7"/>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9B961A59-F0F3-4460-B83D-DE0242A233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6298b-04fa-4dc8-868c-f77e0db41f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B78573-7C15-4354-900D-4630110EBCA9}">
  <ds:schemaRefs>
    <ds:schemaRef ds:uri="http://schemas.microsoft.com/sharepoint/v3/contenttype/forms"/>
  </ds:schemaRefs>
</ds:datastoreItem>
</file>

<file path=docMetadata/LabelInfo.xml><?xml version="1.0" encoding="utf-8"?>
<clbl:labelList xmlns:clbl="http://schemas.microsoft.com/office/2020/mipLabelMetadata">
  <clbl:label id="{a2761ec8-7198-4440-bea0-e9dd2af28b51}" enabled="1" method="Standard" siteId="{73e15cf5-5dbb-46af-a862-753916269d73}" removed="0"/>
</clbl:labelList>
</file>

<file path=docProps/app.xml><?xml version="1.0" encoding="utf-8"?>
<Properties xmlns="http://schemas.openxmlformats.org/officeDocument/2006/extended-properties" xmlns:vt="http://schemas.openxmlformats.org/officeDocument/2006/docPropsVTypes">
  <TotalTime>23</TotalTime>
  <Words>451</Words>
  <Application>Microsoft Office PowerPoint</Application>
  <PresentationFormat>On-screen Show (4:3)</PresentationFormat>
  <Paragraphs>65</Paragraphs>
  <Slides>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Trade Gothic Next Cond</vt:lpstr>
      <vt:lpstr>Trade Gothic Next Light</vt:lpstr>
      <vt:lpstr>PortalVTI</vt:lpstr>
      <vt:lpstr>AutoBid System Demo</vt:lpstr>
      <vt:lpstr>System Overview</vt:lpstr>
      <vt:lpstr>System Description</vt:lpstr>
      <vt:lpstr>Main Functionalities</vt:lpstr>
      <vt:lpstr>Possible Future Improvements</vt:lpstr>
      <vt:lpstr>Customer Workflow</vt:lpstr>
      <vt:lpstr>Provider </vt:lpstr>
      <vt:lpstr>System admin</vt:lpstr>
      <vt:lpstr>link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Rayyan Othman</cp:lastModifiedBy>
  <cp:revision>4</cp:revision>
  <dcterms:created xsi:type="dcterms:W3CDTF">2013-01-27T09:14:16Z</dcterms:created>
  <dcterms:modified xsi:type="dcterms:W3CDTF">2026-02-19T15:16:45Z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0x0101007240A2BFB4C41D4F8A55538012C07922</vt:lpwstr>
  </property>
</Properties>
</file>